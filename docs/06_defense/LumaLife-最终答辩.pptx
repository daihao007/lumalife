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a42530aeaf463d" /><Relationship Type="http://schemas.openxmlformats.org/officeDocument/2006/relationships/extended-properties" Target="/docProps/app.xml" Id="Rd353daae0dfc41a9" /><Relationship Type="http://schemas.openxmlformats.org/officeDocument/2006/relationships/officeDocument" Target="/ppt/presentation.xml" Id="Rd0555b30e92a4a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62e3681ec64d8d"/>
  </p:sldMasterIdLst>
  <p:notesMasterIdLst>
    <p:notesMasterId xmlns:r="http://schemas.openxmlformats.org/officeDocument/2006/relationships" r:id="R649eb311eafe4b27"/>
  </p:notesMasterIdLst>
  <p:sldIdLst>
    <p:sldId xmlns:r="http://schemas.openxmlformats.org/officeDocument/2006/relationships" id="256" r:id="R5f5f2bcbceae431f"/>
    <p:sldId xmlns:r="http://schemas.openxmlformats.org/officeDocument/2006/relationships" id="257" r:id="R15c4905fe4b24fe3"/>
    <p:sldId xmlns:r="http://schemas.openxmlformats.org/officeDocument/2006/relationships" id="258" r:id="R8f9f8aef81044425"/>
    <p:sldId xmlns:r="http://schemas.openxmlformats.org/officeDocument/2006/relationships" id="259" r:id="R2bb352b8dae14241"/>
    <p:sldId xmlns:r="http://schemas.openxmlformats.org/officeDocument/2006/relationships" id="260" r:id="R56027e70067741f0"/>
    <p:sldId xmlns:r="http://schemas.openxmlformats.org/officeDocument/2006/relationships" id="261" r:id="Ra9261025e5534022"/>
    <p:sldId xmlns:r="http://schemas.openxmlformats.org/officeDocument/2006/relationships" id="262" r:id="R7383a0df89cf46bd"/>
    <p:sldId xmlns:r="http://schemas.openxmlformats.org/officeDocument/2006/relationships" id="263" r:id="R4366c300a11b46a0"/>
    <p:sldId xmlns:r="http://schemas.openxmlformats.org/officeDocument/2006/relationships" id="264" r:id="R568bf2a9ee104d6f"/>
    <p:sldId xmlns:r="http://schemas.openxmlformats.org/officeDocument/2006/relationships" id="265" r:id="R40d952f9d43945e0"/>
    <p:sldId xmlns:r="http://schemas.openxmlformats.org/officeDocument/2006/relationships" id="266" r:id="Rac9b4947b1904c96"/>
    <p:sldId xmlns:r="http://schemas.openxmlformats.org/officeDocument/2006/relationships" id="267" r:id="R163cfc05f3484995"/>
    <p:sldId xmlns:r="http://schemas.openxmlformats.org/officeDocument/2006/relationships" id="268" r:id="Rfbc02cdccdc24d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e1ed536fcb4962" /><Relationship Type="http://schemas.openxmlformats.org/officeDocument/2006/relationships/slideMaster" Target="/ppt/slideMasters/slideMaster1.xml" Id="Rca62e3681ec64d8d" /><Relationship Type="http://schemas.openxmlformats.org/officeDocument/2006/relationships/notesMaster" Target="/ppt/notesMasters/notesMaster1.xml" Id="R649eb311eafe4b27" /><Relationship Type="http://schemas.openxmlformats.org/officeDocument/2006/relationships/presProps" Target="/ppt/presProps.xml" Id="R0c7724f88ae747c2" /><Relationship Type="http://schemas.openxmlformats.org/officeDocument/2006/relationships/tableStyles" Target="/ppt/tableStyles.xml" Id="R8673afc5e7064008" /><Relationship Type="http://schemas.openxmlformats.org/officeDocument/2006/relationships/slide" Target="/ppt/slides/slide1.xml" Id="R5f5f2bcbceae431f" /><Relationship Type="http://schemas.openxmlformats.org/officeDocument/2006/relationships/slide" Target="/ppt/slides/slide2.xml" Id="R15c4905fe4b24fe3" /><Relationship Type="http://schemas.openxmlformats.org/officeDocument/2006/relationships/slide" Target="/ppt/slides/slide3.xml" Id="R8f9f8aef81044425" /><Relationship Type="http://schemas.openxmlformats.org/officeDocument/2006/relationships/slide" Target="/ppt/slides/slide4.xml" Id="R2bb352b8dae14241" /><Relationship Type="http://schemas.openxmlformats.org/officeDocument/2006/relationships/slide" Target="/ppt/slides/slide5.xml" Id="R56027e70067741f0" /><Relationship Type="http://schemas.openxmlformats.org/officeDocument/2006/relationships/slide" Target="/ppt/slides/slide6.xml" Id="Ra9261025e5534022" /><Relationship Type="http://schemas.openxmlformats.org/officeDocument/2006/relationships/slide" Target="/ppt/slides/slide7.xml" Id="R7383a0df89cf46bd" /><Relationship Type="http://schemas.openxmlformats.org/officeDocument/2006/relationships/slide" Target="/ppt/slides/slide8.xml" Id="R4366c300a11b46a0" /><Relationship Type="http://schemas.openxmlformats.org/officeDocument/2006/relationships/slide" Target="/ppt/slides/slide9.xml" Id="R568bf2a9ee104d6f" /><Relationship Type="http://schemas.openxmlformats.org/officeDocument/2006/relationships/slide" Target="/ppt/slides/slide10.xml" Id="R40d952f9d43945e0" /><Relationship Type="http://schemas.openxmlformats.org/officeDocument/2006/relationships/slide" Target="/ppt/slides/slide11.xml" Id="Rac9b4947b1904c96" /><Relationship Type="http://schemas.openxmlformats.org/officeDocument/2006/relationships/slide" Target="/ppt/slides/slide12.xml" Id="R163cfc05f3484995" /><Relationship Type="http://schemas.openxmlformats.org/officeDocument/2006/relationships/slide" Target="/ppt/slides/slide13.xml" Id="Rfbc02cdccdc24d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1478190c8a4b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5f9e113caa482b" /><Relationship Type="http://schemas.openxmlformats.org/officeDocument/2006/relationships/notesMaster" Target="/ppt/notesMasters/notesMaster1.xml" Id="R237661664ab84c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ef67cd4049494c" /><Relationship Type="http://schemas.openxmlformats.org/officeDocument/2006/relationships/notesMaster" Target="/ppt/notesMasters/notesMaster1.xml" Id="R9c89bea7de1c4a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0b46bbba794a54" /><Relationship Type="http://schemas.openxmlformats.org/officeDocument/2006/relationships/notesMaster" Target="/ppt/notesMasters/notesMaster1.xml" Id="R0977704c39244d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56405155154ca2" /><Relationship Type="http://schemas.openxmlformats.org/officeDocument/2006/relationships/notesMaster" Target="/ppt/notesMasters/notesMaster1.xml" Id="R168159d3462346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9c5b91269a4229" /><Relationship Type="http://schemas.openxmlformats.org/officeDocument/2006/relationships/notesMaster" Target="/ppt/notesMasters/notesMaster1.xml" Id="Rb57e147e95a049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d8270a20714164" /><Relationship Type="http://schemas.openxmlformats.org/officeDocument/2006/relationships/notesMaster" Target="/ppt/notesMasters/notesMaster1.xml" Id="R360dd44eebad4a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76aa22f00d4312" /><Relationship Type="http://schemas.openxmlformats.org/officeDocument/2006/relationships/notesMaster" Target="/ppt/notesMasters/notesMaster1.xml" Id="Rab094f6c337249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635ba887ec4156" /><Relationship Type="http://schemas.openxmlformats.org/officeDocument/2006/relationships/notesMaster" Target="/ppt/notesMasters/notesMaster1.xml" Id="R440a86b275574f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0fc8a652c7407b" /><Relationship Type="http://schemas.openxmlformats.org/officeDocument/2006/relationships/notesMaster" Target="/ppt/notesMasters/notesMaster1.xml" Id="Rcec1792c617043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0a724903fb40c5" /><Relationship Type="http://schemas.openxmlformats.org/officeDocument/2006/relationships/notesMaster" Target="/ppt/notesMasters/notesMaster1.xml" Id="R7411b21cfb3545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aac826dd614f4e" /><Relationship Type="http://schemas.openxmlformats.org/officeDocument/2006/relationships/notesMaster" Target="/ppt/notesMasters/notesMaster1.xml" Id="Rf0a0eea671c84b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626fab1f6e415a" /><Relationship Type="http://schemas.openxmlformats.org/officeDocument/2006/relationships/notesMaster" Target="/ppt/notesMasters/notesMaster1.xml" Id="R249b0055320144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c8f7e538e545bf" /><Relationship Type="http://schemas.openxmlformats.org/officeDocument/2006/relationships/notesMaster" Target="/ppt/notesMasters/notesMaster1.xml" Id="R8f3178915bc543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docs/project-facts.md</a:t>
            </a:r>
          </a:p>
          <a:p xmlns:a="http://schemas.openxmlformats.org/drawingml/2006/main">
            <a:r>
              <a:t>- docs/assets/user-manual/02-discover.png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docs/project-facts.md</a:t>
            </a:r>
          </a:p>
          <a:p xmlns:a="http://schemas.openxmlformats.org/drawingml/2006/main">
            <a:r>
              <a:t>- docs/testing/test-inventory.md</a:t>
            </a:r>
          </a:p>
          <a:p xmlns:a="http://schemas.openxmlformats.org/drawingml/2006/main">
            <a:r>
              <a:t>- docs/architecture/data-ownership.md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docs/project-facts.md</a:t>
            </a:r>
          </a:p>
          <a:p xmlns:a="http://schemas.openxmlformats.org/drawingml/2006/main">
            <a:r>
              <a:t>- docs/final-audit/HANDOFF.md</a:t>
            </a:r>
          </a:p>
          <a:p xmlns:a="http://schemas.openxmlformats.org/drawingml/2006/main">
            <a:r>
              <a:t>- Git history: monolith-start to current 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docs/architecture/microservices-inventory.md</a:t>
            </a:r>
          </a:p>
          <a:p xmlns:a="http://schemas.openxmlformats.org/drawingml/2006/main">
            <a:r>
              <a:t>- docs/architecture/data-ownership.md</a:t>
            </a:r>
          </a:p>
          <a:p xmlns:a="http://schemas.openxmlformats.org/drawingml/2006/main">
            <a:r>
              <a:t>- docs/architecture/service-communication.md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docs/architecture/service-communication.md</a:t>
            </a:r>
          </a:p>
          <a:p xmlns:a="http://schemas.openxmlformats.org/drawingml/2006/main">
            <a:r>
              <a:t>- docs/14_详细设计说明书.md</a:t>
            </a:r>
          </a:p>
          <a:p xmlns:a="http://schemas.openxmlformats.org/drawingml/2006/main">
            <a:r>
              <a:t>- docs/project-facts.md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docs/16_业务场景用例清单.md</a:t>
            </a:r>
          </a:p>
          <a:p xmlns:a="http://schemas.openxmlformats.org/drawingml/2006/main">
            <a:r>
              <a:t>- docs/assets/user-manual/04-cart.png</a:t>
            </a:r>
          </a:p>
          <a:p xmlns:a="http://schemas.openxmlformats.org/drawingml/2006/main">
            <a:r>
              <a:t>- docs/assets/user-manual/07-merchant-products.png</a:t>
            </a:r>
          </a:p>
          <a:p xmlns:a="http://schemas.openxmlformats.org/drawingml/2006/main">
            <a:r>
              <a:t>- docs/assets/user-manual/08-admin-dashboard.png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docs/testing/test-inventory.md</a:t>
            </a:r>
          </a:p>
          <a:p xmlns:a="http://schemas.openxmlformats.org/drawingml/2006/main">
            <a:r>
              <a:t>- docs/project-facts.md</a:t>
            </a:r>
          </a:p>
          <a:p xmlns:a="http://schemas.openxmlformats.org/drawingml/2006/main">
            <a:r>
              <a:t>- docs/final-audit/HANDOFF.md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docs/testing/public-api-coverage-matrix.md</a:t>
            </a:r>
          </a:p>
          <a:p xmlns:a="http://schemas.openxmlformats.org/drawingml/2006/main">
            <a:r>
              <a:t>- backend/src/test/java/com/lumalife/controller/ApiSecurityIntegrationTest.java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docs/project-facts.md#HPA-Experiment</a:t>
            </a:r>
          </a:p>
          <a:p xmlns:a="http://schemas.openxmlformats.org/drawingml/2006/main">
            <a:r>
              <a:t>- docs/project-facts.md#Fault-Handling</a:t>
            </a:r>
          </a:p>
          <a:p xmlns:a="http://schemas.openxmlformats.org/drawingml/2006/main">
            <a:r>
              <a:t>- k8s/hpa.yaml</a:t>
            </a:r>
          </a:p>
          <a:p xmlns:a="http://schemas.openxmlformats.org/drawingml/2006/main">
            <a:r>
              <a:t>- 04_tests/cloud-native raw CSV and fault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docs/project-facts.md#Performance-Benchmark</a:t>
            </a:r>
          </a:p>
          <a:p xmlns:a="http://schemas.openxmlformats.org/drawingml/2006/main">
            <a:r>
              <a:t>- 04_tests/performance/results/nightly-20260902</a:t>
            </a:r>
          </a:p>
          <a:p xmlns:a="http://schemas.openxmlformats.org/drawingml/2006/main">
            <a:r>
              <a:t>- 04_tests/performance/validate-results.sh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docs/05_management/README.md</a:t>
            </a:r>
          </a:p>
          <a:p xmlns:a="http://schemas.openxmlformats.org/drawingml/2006/main">
            <a:r>
              <a:t>- docs/05_management/ten-day-evidence-matrix.md</a:t>
            </a:r>
          </a:p>
          <a:p xmlns:a="http://schemas.openxmlformats.org/drawingml/2006/main">
            <a:r>
              <a:t>- docs/evidence/2026-08-26/issue-23-project-board.png</a:t>
            </a:r>
          </a:p>
          <a:p xmlns:a="http://schemas.openxmlformats.org/drawingml/2006/main">
            <a:r>
              <a:t>- GitHub Project #2 read-only snapshot on 2026-09-03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docs/project-facts.md</a:t>
            </a:r>
          </a:p>
          <a:p xmlns:a="http://schemas.openxmlformats.org/drawingml/2006/main">
            <a:r>
              <a:t>- docs/final-audit/requirements-checklist.md</a:t>
            </a:r>
          </a:p>
          <a:p xmlns:a="http://schemas.openxmlformats.org/drawingml/2006/main">
            <a:r>
              <a:t>- docs/final-audit/final-project-audit.md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docs/06_defense/technical-summary.md</a:t>
            </a:r>
          </a:p>
          <a:p xmlns:a="http://schemas.openxmlformats.org/drawingml/2006/main">
            <a:r>
              <a:t>- docs/final-audit/final-project-audit.md</a:t>
            </a:r>
          </a:p>
          <a:p xmlns:a="http://schemas.openxmlformats.org/drawingml/2006/main">
            <a:r>
              <a:t>- docs/final-audit/HANDOFF.md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6fdf2aa2747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798fc72f0d4f11" /><Relationship Type="http://schemas.openxmlformats.org/officeDocument/2006/relationships/slideLayout" Target="/ppt/slideLayouts/slideLayout1.xml" Id="R4795fd7a6ffb47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95fd7a6ffb47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75957e6ff4b75" /><Relationship Type="http://schemas.openxmlformats.org/officeDocument/2006/relationships/image" Target="/ppt/media/image.png" Id="R4f0a67d3094447fb" /><Relationship Type="http://schemas.openxmlformats.org/officeDocument/2006/relationships/notesSlide" Target="/ppt/notesSlides/notesSlide1.xml" Id="Re575046976d143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2d810d5e2466e" /><Relationship Type="http://schemas.openxmlformats.org/officeDocument/2006/relationships/notesSlide" Target="/ppt/notesSlides/notesSlide2.xml" Id="Raf8afa3f655046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50e6aba704640" /><Relationship Type="http://schemas.openxmlformats.org/officeDocument/2006/relationships/notesSlide" Target="/ppt/notesSlides/notesSlide3.xml" Id="R822f1fd61ef44e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af2745e124985" /><Relationship Type="http://schemas.openxmlformats.org/officeDocument/2006/relationships/notesSlide" Target="/ppt/notesSlides/notesSlide4.xml" Id="Rdc0742d67b044b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48df0df3f4729" /><Relationship Type="http://schemas.openxmlformats.org/officeDocument/2006/relationships/notesSlide" Target="/ppt/notesSlides/notesSlide5.xml" Id="R8a3a5ce8fd5f47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910e9ab554afc" /><Relationship Type="http://schemas.openxmlformats.org/officeDocument/2006/relationships/image" Target="/ppt/media/image2.png" Id="R4866d3109f564361" /><Relationship Type="http://schemas.openxmlformats.org/officeDocument/2006/relationships/image" Target="/ppt/media/image3.png" Id="R00a724ab252a419b" /><Relationship Type="http://schemas.openxmlformats.org/officeDocument/2006/relationships/image" Target="/ppt/media/image4.png" Id="Red793b5b815d4a03" /><Relationship Type="http://schemas.openxmlformats.org/officeDocument/2006/relationships/notesSlide" Target="/ppt/notesSlides/notesSlide6.xml" Id="Rf08470626bb34f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62c49e6a84d86" /><Relationship Type="http://schemas.openxmlformats.org/officeDocument/2006/relationships/chart" Target="/ppt/slides/charts/chart1.xml" Id="R9700d36054754b12" /><Relationship Type="http://schemas.openxmlformats.org/officeDocument/2006/relationships/notesSlide" Target="/ppt/notesSlides/notesSlide7.xml" Id="R3f40d69e84c54f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8d6ec74df4b46" /><Relationship Type="http://schemas.openxmlformats.org/officeDocument/2006/relationships/notesSlide" Target="/ppt/notesSlides/notesSlide8.xml" Id="R28a7720d867a4f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a58c3b52242c7" /><Relationship Type="http://schemas.openxmlformats.org/officeDocument/2006/relationships/chart" Target="/ppt/slides/charts/chart2.xml" Id="R1e132c1d487e4a8f" /><Relationship Type="http://schemas.openxmlformats.org/officeDocument/2006/relationships/notesSlide" Target="/ppt/notesSlides/notesSlide9.xml" Id="R30e120ad54d94a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2c05221494dc9" /><Relationship Type="http://schemas.openxmlformats.org/officeDocument/2006/relationships/notesSlide" Target="/ppt/notesSlides/notesSlide10.xml" Id="Re3fa662f09384c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8032b003849be" /><Relationship Type="http://schemas.openxmlformats.org/officeDocument/2006/relationships/image" Target="/ppt/media/image.jpeg" Id="R802aa51d3d724bf1" /><Relationship Type="http://schemas.openxmlformats.org/officeDocument/2006/relationships/notesSlide" Target="/ppt/notesSlides/notesSlide11.xml" Id="R2c61c16f791341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1b3ab967b4b51" /><Relationship Type="http://schemas.openxmlformats.org/officeDocument/2006/relationships/notesSlide" Target="/ppt/notesSlides/notesSlide12.xml" Id="R6f2419e4fc5a43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35c91bf384d95" /><Relationship Type="http://schemas.openxmlformats.org/officeDocument/2006/relationships/notesSlide" Target="/ppt/notesSlides/notesSlide13.xml" Id="R016cb27b4a724c9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Defined cases</c:v>
          </c:tx>
          <c:spPr>
            <a:solidFill xmlns:a="http://schemas.openxmlformats.org/drawingml/2006/main">
              <a:srgbClr val="2F80ED"/>
            </a:solidFill>
          </c:spPr>
          <c:cat>
            <c:strLit>
              <c:ptCount val="3"/>
              <c:pt idx="0">
                <c:v>Unit / Component</c:v>
              </c:pt>
              <c:pt idx="1">
                <c:v>Integration / API</c:v>
              </c:pt>
              <c:pt idx="2">
                <c:v>E2E</c:v>
              </c:pt>
            </c:strLit>
          </c:cat>
          <c:val>
            <c:numLit>
              <c:formatCode>General</c:formatCode>
              <c:ptCount val="3"/>
              <c:pt idx="0">
                <c:v>108</c:v>
              </c:pt>
              <c:pt idx="1">
                <c:v>94</c:v>
              </c:pt>
              <c:pt idx="2">
                <c:v>19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CCC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3B5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merchant-service 副本</c:v>
          </c:tx>
          <c:spPr>
            <a:ln xmlns:a="http://schemas.openxmlformats.org/drawingml/2006/main" w="38100">
              <a:solidFill>
                <a:srgbClr val="2F80ED"/>
              </a:solidFill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2F80ED"/>
              </a:solidFill>
            </c:spPr>
          </c:marker>
          <c:cat>
            <c:strLit>
              <c:ptCount val="4"/>
              <c:pt idx="0">
                <c:v>空闲</c:v>
              </c:pt>
              <c:pt idx="1">
                <c:v>负载</c:v>
              </c:pt>
              <c:pt idx="2">
                <c:v>峰值</c:v>
              </c:pt>
              <c:pt idx="3">
                <c:v>冷却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02A4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CCC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3B5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27D98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D9348-FF57-430C-904F-AA4C7DB9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软件工程基础实践 · 第 10 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0749D-4956-4009-819D-16578628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LumaLife</a:t>
            </a:r>
          </a:p>
          <a:p xmlns:a="http://schemas.openxmlformats.org/drawingml/2006/main">
            <a:pPr algn="l">
              <a:defRPr sz="4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最终答辩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612D3-01DC-4650-ACEF-F5215BF0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从单体基线到 BFF + 4 业务微服务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972F1-CFC2-46E1-A457-82194ADC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需求 · 架构 · 测试 · 云原生 · 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FE9C4-B548-4890-AD47-2A7091AA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B8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ECE91-2575-4DC6-83F0-58CE515A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当前验收基线 · 2026-09-03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398D4-3C30-4DA4-8760-0C77926D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"/>
            <a:ext cx="5276850" cy="5524500"/>
          </a:xfrm>
          <a:prstGeom xmlns:a="http://schemas.openxmlformats.org/drawingml/2006/main" prst="roundRect">
            <a:avLst>
              <a:gd name="adj" fmla="val 2888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a67d3094447fb"/>
          <a:stretch xmlns:a="http://schemas.openxmlformats.org/drawingml/2006/main"/>
        </p:blipFill>
        <p:spPr>
          <a:xfrm xmlns:a="http://schemas.openxmlformats.org/drawingml/2006/main">
            <a:off x="6515100" y="1836722"/>
            <a:ext cx="4895850" cy="2803556"/>
          </a:xfrm>
          <a:prstGeom xmlns:a="http://schemas.openxmlformats.org/drawingml/2006/main" prst="roundRect">
            <a:avLst>
              <a:gd name="adj" fmla="val 27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B63C6-3CC0-4B0F-9756-182DC319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8709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DFECA5-4C3C-4D71-9382-1218DF9D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15536-7061-4D53-A782-A72911C9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项目规模已形成可核验的工程闭环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B51FF-6ED3-43CE-A642-987626C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C8B2D-2877-4E3B-AC05-2BE49EE5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58757-0681-4C3B-853E-24FF88A1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19A32-C0BF-47F6-B0E2-35815FA0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所有数字来自当前唯一事实源；服务、接口、测试与数据边界分别可追溯。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8E45D-0200-4E47-BC42-AB2C652C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64996-CDFE-4556-9090-5BF6C9AA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05994-1C31-4803-90FA-26F28A53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业务微服务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9E45C-E262-44DD-A5C7-0D561D80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Identity · Merchant</a:t>
            </a:r>
          </a:p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Order · Assistant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C5457-1F37-4A79-8C01-A2754C2C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9B8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1DB1B-D79C-4C32-803A-055570C9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7567D-F82E-4AD3-A617-C2EA94C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公开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9ED06-3765-4891-85FD-39E1E9E0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均有直接 MockMvc</a:t>
            </a:r>
          </a:p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测试引用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9B09E-D0BF-441F-8A4A-8FC3CBF9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686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72B01-6AC8-4E94-878B-10B8209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2503D-3D23-4846-A8C7-CBFE139B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正式测试资产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6A22C-7EDE-4514-931F-A136AB52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108 Unit · 94 API</a:t>
            </a:r>
          </a:p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19 E2E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06E4E-E93E-4A38-B829-1BD1EE5C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056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10D13-B81B-44DD-9B99-9BF2A35E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7C57C-41D9-4472-91D9-04EF20FE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09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业务数据表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4BAF8-A765-4EA2-9D80-BF7A0D52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三服务独立所有权</a:t>
            </a:r>
          </a:p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禁止跨库直写</a:t>
            </a:r>
          </a:p>
        </p:txBody>
      </p:sp>
    </p:spTree>
    <p:extLst>
      <p:ext uri="{BB962C8B-B14F-4D97-AF65-F5344CB8AC3E}">
        <p14:creationId xmlns:p14="http://schemas.microsoft.com/office/powerpoint/2010/main" val="181175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638FC-DCAB-40AF-BB73-681E065F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94E88-DF26-45C9-AC46-E482DC1A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改造路径：先冻结基线，再拆边界，最后闭环证据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F90C2-CC1A-401C-9838-A3C2213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FBB26-33E9-450C-A9CB-52656950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B057B-3F90-42E0-B087-241A89FD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5A4AA-1744-4C5C-A685-5F0CFA31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1033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24657-FD61-4D64-8A3E-981BEDA6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3CBCB-D431-4FE0-8F3E-8DB1119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08.25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BEE39-80F8-4E50-993F-81EE0BA4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冻结单体基线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8DA53-CE56-48E6-AD68-301DC00B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monolith-start 标签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REQ/UC 范围与测试缺口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A0267-4CC3-49FA-A62D-6B58C599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AB5B0-F4E1-4FCE-8EDE-29D7BDB3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08.28–09.02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B57FF-F946-4AAF-B19E-FED02A48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完成微服务迁移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DF9B9-C870-4889-80B4-F67CE04B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BFF + 4 服务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独立数据库 + RabbitMQ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26E63-E460-4AB7-BDD1-B34A2658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59ACB-C53E-471E-A1E0-E16AD9F6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09.03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6E0D2-A6AD-443C-8922-CC95E4EF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形成验收基线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0A52B-D2E3-4F33-B58F-072B4496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52/52 API 证据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正式文档、PDF 与审计</a:t>
            </a:r>
          </a:p>
        </p:txBody>
      </p:sp>
    </p:spTree>
    <p:extLst>
      <p:ext uri="{BB962C8B-B14F-4D97-AF65-F5344CB8AC3E}">
        <p14:creationId xmlns:p14="http://schemas.microsoft.com/office/powerpoint/2010/main" val="1917972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F89DD-824C-49CC-A3B9-72BBC2EA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78D91-68D4-40C5-803C-D86029C9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BFF 稳定契约，四个服务按业务与数据拆分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7EEC9-3A03-4BB2-A0F3-C91D4BF4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571BB-9E1A-4369-957C-3E0CA0D3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A53C5-C1B3-43BC-817D-03688040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ABE19-FAE4-447A-A0E3-B1FFEAFD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9B684-5E0A-4735-BA16-89863D1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Browser → React frontend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→ backend BFF :8080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• 52 个 /api/v1/** 映射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• 认证与角色边界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• 聚合和公开响应适配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• 浏览器不直连内部服务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E2D02-343E-46B6-9680-4F04D3FF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90700"/>
            <a:ext cx="0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D5DB1-C17D-484C-BC2A-E13DE233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四个业务边界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EC3C1-C1A8-4D34-B9D9-4FA9E19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Identity :8081 · 3 表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Merchant :8082 · 10 表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Order :8083 · 10 表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Assistant :8084 · 0 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65 个内部 API；HTTP 同步协作，Order 与 Merchant 使用 RabbitMQ Saga。</a:t>
            </a:r>
          </a:p>
        </p:txBody>
      </p:sp>
    </p:spTree>
    <p:extLst>
      <p:ext uri="{BB962C8B-B14F-4D97-AF65-F5344CB8AC3E}">
        <p14:creationId xmlns:p14="http://schemas.microsoft.com/office/powerpoint/2010/main" val="2132216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021573-32F5-403D-B2F1-1C7B6405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D9C74-E52C-4CE1-A3B9-EC075F97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跨服务一致性依靠 Outbox、Inbox 与 Saga，而非跨库事务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107A6-2BDB-4306-91E5-85E51CE8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719BF-6C16-4313-810B-7808E4D1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0D89E-0B17-405C-83A0-230DE3DC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77C01-A25F-43A1-8505-3B4C1C3E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CCC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6AE18-D7BE-407F-8F7C-D7FA6BB8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242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CCC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F13CD-0DF4-4334-B018-74DD41FE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CCC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6F17D-0FCA-4D8D-9952-6D549DEA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000250" cy="2190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311B7-3FD1-4D4B-8832-8056B16B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7999F-72AB-4253-B8EF-FBB7C60D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Order 本地事务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26662-71BC-4A3E-9724-20EA7B3C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创建订单与 Saga</a:t>
            </a:r>
          </a:p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同时写 Outbox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D07F5-DF69-4EB2-84C6-10ED711B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67000"/>
            <a:ext cx="2000250" cy="2190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39B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115F6-B4DD-47FD-B7CE-D1A7FAF0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A44DC-3379-4A39-95D2-3963368D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480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事件投递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A66D7-0452-4BB5-9B87-D53CCDD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148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RabbitMQ 传递</a:t>
            </a:r>
          </a:p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库存命令与结果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F9659-94A0-4912-B3B0-A172747E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000250" cy="2190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01FDF-5788-40E9-85DC-50C08937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029E5-374E-4DC4-93FD-8D7B5151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8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Merchant 幂等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D44AB-0CB4-4AAB-A838-3A29E712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Inbox 去重后</a:t>
            </a:r>
          </a:p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预留或补偿库存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BBB9B-DD0A-40EC-ACEB-7B81CE7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000250" cy="2190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D36D8-2B4D-413E-893D-78C82A53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9FE0D-D2C5-460D-A39A-A73A4565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480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状态收敛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24944-1285-4CFD-B121-699B3967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Order 推进完成、</a:t>
            </a:r>
          </a:p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取消或人工核验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B7635-9748-416E-87B0-DB45306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当前风险：publisher confirm/return 与 DLQ 尚未补齐。</a:t>
            </a:r>
          </a:p>
        </p:txBody>
      </p:sp>
    </p:spTree>
    <p:extLst>
      <p:ext uri="{BB962C8B-B14F-4D97-AF65-F5344CB8AC3E}">
        <p14:creationId xmlns:p14="http://schemas.microsoft.com/office/powerpoint/2010/main" val="1122200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E8C85-8EE1-4F67-AB25-945C4ADF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81736-E62A-4A41-B02A-6DA31567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九个场景覆盖用户、商家与平台角色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D06F6-54AB-461C-965E-CD0C85D4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50952-93E2-468D-8AED-2A65B225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FDF67-84BF-4060-9141-11F4B86E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88F26-0C4F-4F1D-A0DF-63B1513C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用户消费闭环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A19D1-E769-4D1E-AE52-D191B5E1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238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6d3109f564361"/>
          <a:stretch xmlns:a="http://schemas.openxmlformats.org/drawingml/2006/main"/>
        </p:blipFill>
        <p:spPr>
          <a:xfrm xmlns:a="http://schemas.openxmlformats.org/drawingml/2006/main">
            <a:off x="647700" y="2575348"/>
            <a:ext cx="3048000" cy="1745404"/>
          </a:xfrm>
          <a:prstGeom xmlns:a="http://schemas.openxmlformats.org/drawingml/2006/main" prst="roundRect">
            <a:avLst>
              <a:gd name="adj" fmla="val 538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1C2EC-E619-423C-A5C6-917A13B7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浏览 · 加购 · 下单 · 支付 · 评价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967A8-781F-437D-84EC-EE2FAEC6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商家经营闭环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CD790-4FB7-46E6-9466-89558076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14550"/>
            <a:ext cx="3238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724ab252a419b"/>
          <a:stretch xmlns:a="http://schemas.openxmlformats.org/drawingml/2006/main"/>
        </p:blipFill>
        <p:spPr>
          <a:xfrm xmlns:a="http://schemas.openxmlformats.org/drawingml/2006/main">
            <a:off x="4210050" y="2575348"/>
            <a:ext cx="3048000" cy="1745404"/>
          </a:xfrm>
          <a:prstGeom xmlns:a="http://schemas.openxmlformats.org/drawingml/2006/main" prst="roundRect">
            <a:avLst>
              <a:gd name="adj" fmla="val 538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F300B-E8F6-4E49-A088-8D27A2A7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9110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商品 · 团购 · 履约 · 核销 · 客服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51D58-5783-4A4D-9C8E-B34A280F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19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平台观测闭环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29EF0-7A27-441F-9427-A235D4FB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3238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93b5b815d4a03"/>
          <a:stretch xmlns:a="http://schemas.openxmlformats.org/drawingml/2006/main"/>
        </p:blipFill>
        <p:spPr>
          <a:xfrm xmlns:a="http://schemas.openxmlformats.org/drawingml/2006/main">
            <a:off x="8452014" y="2209800"/>
            <a:ext cx="1688772" cy="2476500"/>
          </a:xfrm>
          <a:prstGeom xmlns:a="http://schemas.openxmlformats.org/drawingml/2006/main" prst="roundRect">
            <a:avLst>
              <a:gd name="adj" fmla="val 538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12779-4EC5-4CC3-BBEC-0BC03D40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9110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指标 · 账号 · 健康 · 日志</a:t>
            </a:r>
          </a:p>
        </p:txBody>
      </p:sp>
    </p:spTree>
    <p:extLst>
      <p:ext uri="{BB962C8B-B14F-4D97-AF65-F5344CB8AC3E}">
        <p14:creationId xmlns:p14="http://schemas.microsoft.com/office/powerpoint/2010/main" val="8727902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BD40C-9891-4E5A-AF1A-0E1406F0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89E70-4B34-44FB-AA5E-380437CF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221 个测试资产分层覆盖，但提交边界必须讲清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35E53-10B3-4A4B-BCAA-6F0CF244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D8A45-597E-488E-901F-1E34C3E7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88D2C-D3CB-49BE-8F55-D988CC2F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00d36054754b1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541F6-ACAC-4236-8001-FC125544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当前可陈述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A4EC3-5D41-4D8B-86A9-8EC4EE2E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backend 96/96 PASS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UI E2E 3/3 PASS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52/52 API 有直接测试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当前 MS E2E：NOT-RUN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旧提交 9/9：既有证据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792FE-F985-4163-A47C-8A0660ED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3232"/>
                </a:solidFill>
                <a:latin typeface="Microsoft YaHei"/>
                <a:ea typeface="Microsoft YaHei"/>
                <a:cs typeface="Microsoft YaHei"/>
              </a:rPr>
              <a:t>不能宣传“当前 HEAD 221/221 全通过”。</a:t>
            </a:r>
          </a:p>
        </p:txBody>
      </p:sp>
    </p:spTree>
    <p:extLst>
      <p:ext uri="{BB962C8B-B14F-4D97-AF65-F5344CB8AC3E}">
        <p14:creationId xmlns:p14="http://schemas.microsoft.com/office/powerpoint/2010/main" val="19696809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FB532-6167-4478-BE54-C1120FC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F3722-100D-42EB-A7DE-6C8EA60A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52/52 证明逐接口覆盖，不代表穷举分支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3D279-B379-4247-A14A-4B484AB4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8B763-FADC-438B-8899-F9DBEAC9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8EE73-CB43-47B7-9747-44C4BA8D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C97B0-E1E2-427F-BA1B-1856CC6A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80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EDA5F-F470-4DBB-98CC-4508E944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3B266-5B1C-4AB3-A61D-D2677377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9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公开映射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23B3C-018D-4EFC-91A3-EC37F54E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Spring MVC 显式</a:t>
            </a:r>
          </a:p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/api/v1/** 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6EA08-4C1A-44CB-BD9C-3B0350AE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9B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C489C-F1A2-487D-B35A-BB1B438A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1EBB9-E4BA-4064-A3F4-E3ECF958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直接测试引用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A9380-0598-40F3-8975-A33BB85C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每个映射至少一个</a:t>
            </a:r>
          </a:p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MockMvc HTTP 断言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1E45C-AB5C-49CF-8F2B-AE9163FE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686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ED226-DAD4-42A6-B8EA-99C78367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098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28/28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E6654-F86A-4EB5-BB93-8DA33249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09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安全集成测试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7548E-1772-458A-A81E-860CBCD0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100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权限、参数、状态、</a:t>
            </a:r>
          </a:p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幂等与异常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3911A-430E-4063-A06B-D37759E1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矩阵可追溯：HTTP 方法 → 路径 → Controller → 测试类/方法。</a:t>
            </a:r>
          </a:p>
        </p:txBody>
      </p:sp>
    </p:spTree>
    <p:extLst>
      <p:ext uri="{BB962C8B-B14F-4D97-AF65-F5344CB8AC3E}">
        <p14:creationId xmlns:p14="http://schemas.microsoft.com/office/powerpoint/2010/main" val="19228772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FB35D-BD5C-4389-A387-166E5314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B77A1-36DE-405D-91E7-79AA4560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云原生证据同时回答部署、扩缩容与故障隔离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63F67-F846-45A0-982A-823E3F0B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24C5D-4D9D-4224-8C3A-D0CDE867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3E439-0817-4773-99EB-107D9B19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6477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132c1d487e4a8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318BA-27BB-42B3-829C-00765DBA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812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1 → 2 → 3 →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EFC18-DA86-4F4D-9F9F-784565B4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HPA 既有证据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14,467 请求 · 0 错误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提交 8c335eb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A57F2-7CE2-469C-9000-F1FB747A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928B9-BF44-40C9-B796-643C196A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434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200 → 503 → 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3180E-F06D-4A2C-ABE6-2E74F4C9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530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merchant 停止/恢复期间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backend readiness 保持 200</a:t>
            </a:r>
          </a:p>
        </p:txBody>
      </p:sp>
    </p:spTree>
    <p:extLst>
      <p:ext uri="{BB962C8B-B14F-4D97-AF65-F5344CB8AC3E}">
        <p14:creationId xmlns:p14="http://schemas.microsoft.com/office/powerpoint/2010/main" val="206666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3EE90-2729-432C-A6BA-C6A90B3F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797F1-3385-46B7-A26F-FD4A9D75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性能结果：小样本中单体更快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82DA3-6835-4E2C-A9C0-C6C8D0E5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27BB2-F8A8-4484-8237-31839F45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464F8-2905-493A-98C7-A95A49AF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C8577-433B-4BBE-9B02-005A7D38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已验证事实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1A4FE-62C9-4508-BC3A-DC31770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3 个 API × 2 种模式 × 3 次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= 18 runs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180 请求 · 0 失败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三个接口的小样本结果均为单体更快。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428FE-B0C2-489A-A904-7E5ECE05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90700"/>
            <a:ext cx="0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5F4D7-9E9A-40BA-8E77-DBE09480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合理解释与限制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EDCC8-FFB1-42CB-9D80-1384E2D5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微服务增加 BFF、网络、序列化和 fan-out 开销。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原始 commit 未记录；资源 CSV 只采 backend；没有当前成功 workflow artifact。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状态：⚠️ EXISTING-EVIDENCE-VERIFIED</a:t>
            </a:r>
          </a:p>
        </p:txBody>
      </p:sp>
    </p:spTree>
    <p:extLst>
      <p:ext uri="{BB962C8B-B14F-4D97-AF65-F5344CB8AC3E}">
        <p14:creationId xmlns:p14="http://schemas.microsoft.com/office/powerpoint/2010/main" val="1851172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482FD-1F0C-447D-9D03-9A33C39A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D150D-5DFB-4A79-89F8-964BD1A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项目计划均衡，但十日管理原件仍不完整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7B195-568F-4062-9EF5-B3E16B97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EBD75-68B5-4F4B-9225-F55BD8B3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9ED0E-3D29-4C6C-A990-61F7547E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602C5-2A75-4D47-8A7C-9F826798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5810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aa51d3d724bf1"/>
          <a:stretch xmlns:a="http://schemas.openxmlformats.org/drawingml/2006/main"/>
        </p:blipFill>
        <p:spPr>
          <a:xfrm xmlns:a="http://schemas.openxmlformats.org/drawingml/2006/main">
            <a:off x="685800" y="2203252"/>
            <a:ext cx="5543550" cy="3118247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9BA12-3A11-43CC-BB80-4133A2B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DDC33-0289-48ED-9F84-85442510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十日计划任务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E0A19-7325-4CEF-90C0-FCC6B72A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40 Done / 10 Todo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E74D9-B88D-464E-80AB-FFDE4D07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五名成员各 10 项、70 计划工时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站会勾选：9/50，仅覆盖 4 日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每日截图：仅 D01/D02 共 4 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计划工时 ≠ 已验证实际工时</a:t>
            </a:r>
          </a:p>
        </p:txBody>
      </p:sp>
    </p:spTree>
    <p:extLst>
      <p:ext uri="{BB962C8B-B14F-4D97-AF65-F5344CB8AC3E}">
        <p14:creationId xmlns:p14="http://schemas.microsoft.com/office/powerpoint/2010/main" val="17211945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A4923-168C-4691-BD95-1F74315A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FINAL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727D6-2831-470F-A323-D23743C2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可信答辩必须区分 PASS 与未验证项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26B28-90B6-4A24-8820-92BC4F46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3DC0D-708C-4DA1-950F-35A39FFD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9FF1B-5317-4B31-A707-0CBDBA9A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C63F5-D427-424A-87E6-2EC0A5FD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可以展示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CF451-F311-4B86-9C38-9D07018F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✓ backend 96/96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✓ UI E2E 3/3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✓ 52/52 公开 API 直接测试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✓ Compose / Kustomize 静态验证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✓ 既有 HPA、故障、性能原始材料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✓ 三份当前正式 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C6C04-8BB0-43FC-8EB8-AD39BB53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90700"/>
            <a:ext cx="0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C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F9F8F-B03B-4AF7-9471-0AC6C9D7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必须保留边界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4AEA5-2A06-4293-AC9A-3617CDCB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NOT-RUN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当前 Microservice E2E、legacy API E2E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UNVERIFIED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教师确认、完整管理原件、成员权重/签署、当前 GitHub Actions、线上长期稳定性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DFC0D-D2F1-43BA-9FF7-F6491609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83232"/>
                </a:solidFill>
                <a:latin typeface="Microsoft YaHei"/>
                <a:ea typeface="Microsoft YaHei"/>
                <a:cs typeface="Microsoft YaHei"/>
              </a:rPr>
              <a:t>原则：没有执行的内容不写 PASS；旧提交结果不冒充当前提交。</a:t>
            </a:r>
          </a:p>
        </p:txBody>
      </p:sp>
    </p:spTree>
    <p:extLst>
      <p:ext uri="{BB962C8B-B14F-4D97-AF65-F5344CB8AC3E}">
        <p14:creationId xmlns:p14="http://schemas.microsoft.com/office/powerpoint/2010/main" val="60114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617CC-B14E-4B01-84C9-3741B718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B8C8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EDCBF-8E15-47D4-8BE7-92629D11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工程闭环已形成，</a:t>
            </a:r>
          </a:p>
          <a:p xmlns:a="http://schemas.openxmlformats.org/drawingml/2006/main">
            <a:pPr algn="l">
              <a:def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证据边界仍需守住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66E32-E3B2-4FA5-9BB8-1CDC90AF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LumaLife 已完成主要微服务改造，并能用代码、测试、配置和原始实验材料解释关键设计。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8D949-0E7C-4A49-BEC0-890443E9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95350"/>
            <a:ext cx="3048000" cy="447675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39B8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73B73-C3D9-46B3-B88A-995DFA7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答辩前最后三步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910DE-1713-4B1C-93C3-45C2ED13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01  成员确认权重与分工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02  真实闭环 D09/D10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03  获准后补当前 E2E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E8551-579A-4A68-AABD-CB8DAAA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80ED"/>
                </a:solidFill>
                <a:latin typeface="Microsoft YaHei"/>
                <a:ea typeface="Microsoft YaHei"/>
                <a:cs typeface="Microsoft YaHei"/>
              </a:rPr>
              <a:t>问题与讨论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748B2-47F9-4B74-A0A7-097C819B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9B8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8B21E-ADD8-4C67-B251-98FD95AE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LumaLife · 最终答辩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0E197-AACD-41EF-BC76-A2045C27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3927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2026-09-02T17:27:34.4990000Z</dcterms:created>
  <dcterms:modified xsi:type="dcterms:W3CDTF">2026-09-02T17:27:34.4990000Z</dcterms:modified>
</coreProperties>
</file>